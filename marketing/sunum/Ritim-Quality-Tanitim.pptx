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Ritim Quality, üretimde neyin nasıl kontrol edileceğini, ölçüm sonuçlarını ve bu sonuçlardan çıkan analizleri aynı akışta bir araya getirir. Operatör teknik resimdeki ölçüm noktasını takip eder; kalite ekibi planı ve toleransları yönetir. Ekran görüntüleri proje içindeki demo görselleridir; müşteri referansı veya performans taahhüdü değildir.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 üç pratik soruna odaklanıyoruz: farklı dosyalarda tutulan kontrol bilgileri, operatörler arasında değişebilen uygulamalar ve geriye dönük kayıt arama zorluğu. Ritim Quality bunları merkezi kontrol planları, yönlendirilmiş ölçüm ve bağlamı korunan kayıtlarla ele alır. Amaç, kalite sürecini kişisel alışkanlıklara daha az bağımlı ve ekipler arasında daha tutarlı hale getirmektir.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Ölçüm biriktirmek tek başına yeterli değildir. SPC, yani istatistiksel süreç kontrolü, ölçümlerdeki dağılımı ve zaman içindeki değişimi incelemeyi sağlar. Cp ve Cpk süreç yeteneğini değerlendirmede kullanılan göstergelerdir; sonuçlar kullanılan veriye ve analiz varsayımlarına bağlıdır. Ritim ailesi için değer önerimiz, ortak bir kalite dili ve veriye dayanan iyileştirme kararlarıdır. Kapanışta ölçüm istasyonu ve SPC ekranı üzerinden kısa bir canlı demo yapılabilir.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4"/>
        </a:solidFill>
        <a:effectLst/>
      </p:bgPr>
    </p:bg>
    <p:spTree>
      <p:nvGrpSpPr>
        <p:cNvPr id="1" name=""/>
        <p:cNvGrpSpPr/>
        <p:nvPr/>
      </p:nvGrpSpPr>
      <p:grpSpPr/>
      <p:sp>
        <p:nvSpPr>
          <p:cNvPr id="2" name="Rectangle 1"/>
          <p:cNvSpPr/>
          <p:nvPr/>
        </p:nvSpPr>
        <p:spPr>
          <a:xfrm>
            <a:off x="548640" y="448056"/>
            <a:ext cx="73152" cy="265176"/>
          </a:xfrm>
          <a:prstGeom prst="rect">
            <a:avLst/>
          </a:prstGeom>
          <a:solidFill>
            <a:srgbClr val="43D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5486400" cy="274320"/>
          </a:xfrm>
          <a:prstGeom prst="rect">
            <a:avLst/>
          </a:prstGeom>
          <a:noFill/>
        </p:spPr>
        <p:txBody>
          <a:bodyPr wrap="square" lIns="0" rIns="0" tIns="0" bIns="0">
            <a:spAutoFit/>
          </a:bodyPr>
          <a:lstStyle/>
          <a:p>
            <a:pPr>
              <a:spcAft>
                <a:spcPts val="0"/>
              </a:spcAft>
              <a:defRPr sz="1655" b="1">
                <a:solidFill>
                  <a:srgbClr val="F7F9FF"/>
                </a:solidFill>
                <a:latin typeface="Arial"/>
              </a:defRPr>
            </a:pPr>
            <a:r>
              <a:t>RİTİM / QUALITY</a:t>
            </a:r>
          </a:p>
        </p:txBody>
      </p:sp>
      <p:sp>
        <p:nvSpPr>
          <p:cNvPr id="4" name="TextBox 3"/>
          <p:cNvSpPr txBox="1"/>
          <p:nvPr/>
        </p:nvSpPr>
        <p:spPr>
          <a:xfrm>
            <a:off x="9601200" y="484632"/>
            <a:ext cx="4480560" cy="228600"/>
          </a:xfrm>
          <a:prstGeom prst="rect">
            <a:avLst/>
          </a:prstGeom>
          <a:noFill/>
        </p:spPr>
        <p:txBody>
          <a:bodyPr wrap="square" lIns="0" rIns="0" tIns="0" bIns="0">
            <a:spAutoFit/>
          </a:bodyPr>
          <a:lstStyle/>
          <a:p>
            <a:pPr>
              <a:spcAft>
                <a:spcPts val="0"/>
              </a:spcAft>
              <a:defRPr sz="1080" b="0">
                <a:solidFill>
                  <a:srgbClr val="A9B7D0"/>
                </a:solidFill>
                <a:latin typeface="Arial"/>
              </a:defRPr>
            </a:pPr>
            <a:r>
              <a:t>01 — RİTİM QUALITY NEDİR?</a:t>
            </a:r>
          </a:p>
        </p:txBody>
      </p:sp>
      <p:sp>
        <p:nvSpPr>
          <p:cNvPr id="5" name="Rectangle 4"/>
          <p:cNvSpPr/>
          <p:nvPr/>
        </p:nvSpPr>
        <p:spPr>
          <a:xfrm>
            <a:off x="548640" y="7680960"/>
            <a:ext cx="13533120" cy="9144"/>
          </a:xfrm>
          <a:prstGeom prst="rect">
            <a:avLst/>
          </a:prstGeom>
          <a:solidFill>
            <a:srgbClr val="2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854696"/>
            <a:ext cx="10972800" cy="182880"/>
          </a:xfrm>
          <a:prstGeom prst="rect">
            <a:avLst/>
          </a:prstGeom>
          <a:noFill/>
        </p:spPr>
        <p:txBody>
          <a:bodyPr wrap="square" lIns="0" rIns="0" tIns="0" bIns="0">
            <a:spAutoFit/>
          </a:bodyPr>
          <a:lstStyle/>
          <a:p>
            <a:pPr>
              <a:spcAft>
                <a:spcPts val="0"/>
              </a:spcAft>
              <a:defRPr sz="864" b="0">
                <a:solidFill>
                  <a:srgbClr val="A9B7D0"/>
                </a:solidFill>
                <a:latin typeface="Arial"/>
              </a:defRPr>
            </a:pPr>
            <a:r>
              <a:t>RİTİM AİLESİ  •  ÜRÜN TANITIMI</a:t>
            </a:r>
          </a:p>
        </p:txBody>
      </p:sp>
      <p:sp>
        <p:nvSpPr>
          <p:cNvPr id="7" name="TextBox 6"/>
          <p:cNvSpPr txBox="1"/>
          <p:nvPr/>
        </p:nvSpPr>
        <p:spPr>
          <a:xfrm>
            <a:off x="13441680" y="7818120"/>
            <a:ext cx="640080" cy="219456"/>
          </a:xfrm>
          <a:prstGeom prst="rect">
            <a:avLst/>
          </a:prstGeom>
          <a:noFill/>
        </p:spPr>
        <p:txBody>
          <a:bodyPr wrap="square" lIns="0" rIns="0" tIns="0" bIns="0">
            <a:spAutoFit/>
          </a:bodyPr>
          <a:lstStyle/>
          <a:p>
            <a:pPr>
              <a:spcAft>
                <a:spcPts val="0"/>
              </a:spcAft>
              <a:defRPr sz="1008" b="0">
                <a:solidFill>
                  <a:srgbClr val="A9B7D0"/>
                </a:solidFill>
                <a:latin typeface="Arial"/>
              </a:defRPr>
            </a:pPr>
            <a:r>
              <a:t>01 / 03</a:t>
            </a:r>
          </a:p>
        </p:txBody>
      </p:sp>
      <p:sp>
        <p:nvSpPr>
          <p:cNvPr id="8" name="TextBox 7"/>
          <p:cNvSpPr txBox="1"/>
          <p:nvPr/>
        </p:nvSpPr>
        <p:spPr>
          <a:xfrm>
            <a:off x="548640" y="1271016"/>
            <a:ext cx="6400800" cy="457200"/>
          </a:xfrm>
          <a:prstGeom prst="rect">
            <a:avLst/>
          </a:prstGeom>
          <a:noFill/>
        </p:spPr>
        <p:txBody>
          <a:bodyPr wrap="square" lIns="0" rIns="0" tIns="0" bIns="0">
            <a:spAutoFit/>
          </a:bodyPr>
          <a:lstStyle/>
          <a:p>
            <a:pPr>
              <a:spcAft>
                <a:spcPts val="0"/>
              </a:spcAft>
              <a:defRPr sz="3456" b="1">
                <a:solidFill>
                  <a:srgbClr val="F7F9FF"/>
                </a:solidFill>
                <a:latin typeface="Arial"/>
              </a:defRPr>
            </a:pPr>
            <a:r>
              <a:t>Üretimin kalite hafızası.</a:t>
            </a:r>
          </a:p>
        </p:txBody>
      </p:sp>
      <p:sp>
        <p:nvSpPr>
          <p:cNvPr id="9" name="TextBox 8"/>
          <p:cNvSpPr txBox="1"/>
          <p:nvPr/>
        </p:nvSpPr>
        <p:spPr>
          <a:xfrm>
            <a:off x="548640" y="1993392"/>
            <a:ext cx="5303520" cy="1325880"/>
          </a:xfrm>
          <a:prstGeom prst="rect">
            <a:avLst/>
          </a:prstGeom>
          <a:noFill/>
        </p:spPr>
        <p:txBody>
          <a:bodyPr wrap="square" lIns="0" rIns="0" tIns="0" bIns="0">
            <a:spAutoFit/>
          </a:bodyPr>
          <a:lstStyle/>
          <a:p>
            <a:pPr>
              <a:spcAft>
                <a:spcPts val="0"/>
              </a:spcAft>
              <a:defRPr sz="3887" b="1">
                <a:solidFill>
                  <a:srgbClr val="F7F9FF"/>
                </a:solidFill>
                <a:latin typeface="Arial"/>
              </a:defRPr>
            </a:pPr>
            <a:r>
              <a:t>Her ölçümde</a:t>
            </a:r>
          </a:p>
          <a:p>
            <a:pPr>
              <a:spcAft>
                <a:spcPts val="0"/>
              </a:spcAft>
              <a:defRPr sz="3887" b="1">
                <a:solidFill>
                  <a:srgbClr val="F7F9FF"/>
                </a:solidFill>
                <a:latin typeface="Arial"/>
              </a:defRPr>
            </a:pPr>
            <a:r>
              <a:t>aynı standart.</a:t>
            </a:r>
          </a:p>
          <a:p>
            <a:pPr>
              <a:spcAft>
                <a:spcPts val="0"/>
              </a:spcAft>
              <a:defRPr sz="3887" b="1">
                <a:solidFill>
                  <a:srgbClr val="F7F9FF"/>
                </a:solidFill>
                <a:latin typeface="Arial"/>
              </a:defRPr>
            </a:pPr>
            <a:r>
              <a:t>Her kararda veri.</a:t>
            </a:r>
          </a:p>
        </p:txBody>
      </p:sp>
      <p:sp>
        <p:nvSpPr>
          <p:cNvPr id="10" name="TextBox 9"/>
          <p:cNvSpPr txBox="1"/>
          <p:nvPr/>
        </p:nvSpPr>
        <p:spPr>
          <a:xfrm>
            <a:off x="548640" y="3968496"/>
            <a:ext cx="4892040" cy="1024128"/>
          </a:xfrm>
          <a:prstGeom prst="rect">
            <a:avLst/>
          </a:prstGeom>
          <a:noFill/>
        </p:spPr>
        <p:txBody>
          <a:bodyPr wrap="square" lIns="0" rIns="0" tIns="0" bIns="0">
            <a:spAutoFit/>
          </a:bodyPr>
          <a:lstStyle/>
          <a:p>
            <a:pPr>
              <a:spcAft>
                <a:spcPts val="0"/>
              </a:spcAft>
              <a:defRPr sz="1872" b="0">
                <a:solidFill>
                  <a:srgbClr val="A9B7D0"/>
                </a:solidFill>
                <a:latin typeface="Arial"/>
              </a:defRPr>
            </a:pPr>
            <a:r>
              <a:t>Kontrol planından operatör ölçümüne,</a:t>
            </a:r>
          </a:p>
          <a:p>
            <a:pPr>
              <a:spcAft>
                <a:spcPts val="0"/>
              </a:spcAft>
              <a:defRPr sz="1872" b="0">
                <a:solidFill>
                  <a:srgbClr val="A9B7D0"/>
                </a:solidFill>
                <a:latin typeface="Arial"/>
              </a:defRPr>
            </a:pPr>
            <a:r>
              <a:t>ölçüm kaydından süreç analizine:</a:t>
            </a:r>
          </a:p>
          <a:p>
            <a:pPr>
              <a:spcAft>
                <a:spcPts val="0"/>
              </a:spcAft>
              <a:defRPr sz="1872" b="0">
                <a:solidFill>
                  <a:srgbClr val="A9B7D0"/>
                </a:solidFill>
                <a:latin typeface="Arial"/>
              </a:defRPr>
            </a:pPr>
            <a:r>
              <a:t>üretim kalitesi için tek dijital platform.</a:t>
            </a:r>
          </a:p>
        </p:txBody>
      </p:sp>
      <p:sp>
        <p:nvSpPr>
          <p:cNvPr id="11" name="Rectangle 10"/>
          <p:cNvSpPr/>
          <p:nvPr/>
        </p:nvSpPr>
        <p:spPr>
          <a:xfrm>
            <a:off x="548640" y="5641848"/>
            <a:ext cx="4498848" cy="512064"/>
          </a:xfrm>
          <a:prstGeom prst="rect">
            <a:avLst/>
          </a:prstGeom>
          <a:solidFill>
            <a:srgbClr val="286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79008"/>
            <a:ext cx="4251960" cy="274320"/>
          </a:xfrm>
          <a:prstGeom prst="rect">
            <a:avLst/>
          </a:prstGeom>
          <a:noFill/>
        </p:spPr>
        <p:txBody>
          <a:bodyPr wrap="square" lIns="0" rIns="0" tIns="0" bIns="0">
            <a:spAutoFit/>
          </a:bodyPr>
          <a:lstStyle/>
          <a:p>
            <a:pPr>
              <a:spcAft>
                <a:spcPts val="0"/>
              </a:spcAft>
              <a:defRPr sz="1512" b="1">
                <a:solidFill>
                  <a:srgbClr val="F7F9FF"/>
                </a:solidFill>
                <a:latin typeface="Arial"/>
              </a:defRPr>
            </a:pPr>
            <a:r>
              <a:t>PLANLA  →  ÖLÇ  →  İZLE  →  İYİLEŞTİR</a:t>
            </a:r>
          </a:p>
        </p:txBody>
      </p:sp>
      <p:sp>
        <p:nvSpPr>
          <p:cNvPr id="13" name="TextBox 12"/>
          <p:cNvSpPr txBox="1"/>
          <p:nvPr/>
        </p:nvSpPr>
        <p:spPr>
          <a:xfrm>
            <a:off x="548640" y="6629400"/>
            <a:ext cx="4846320" cy="548640"/>
          </a:xfrm>
          <a:prstGeom prst="rect">
            <a:avLst/>
          </a:prstGeom>
          <a:noFill/>
        </p:spPr>
        <p:txBody>
          <a:bodyPr wrap="square" lIns="0" rIns="0" tIns="0" bIns="0">
            <a:spAutoFit/>
          </a:bodyPr>
          <a:lstStyle/>
          <a:p>
            <a:pPr>
              <a:spcAft>
                <a:spcPts val="0"/>
              </a:spcAft>
              <a:defRPr sz="1655" b="0">
                <a:solidFill>
                  <a:srgbClr val="43DFC0"/>
                </a:solidFill>
                <a:latin typeface="Arial"/>
              </a:defRPr>
            </a:pPr>
            <a:r>
              <a:t>Ritim ailesinin üretim kalitesine</a:t>
            </a:r>
          </a:p>
          <a:p>
            <a:pPr>
              <a:spcAft>
                <a:spcPts val="0"/>
              </a:spcAft>
              <a:defRPr sz="1655" b="0">
                <a:solidFill>
                  <a:srgbClr val="43DFC0"/>
                </a:solidFill>
                <a:latin typeface="Arial"/>
              </a:defRPr>
            </a:pPr>
            <a:r>
              <a:t>odaklanan çözümü.</a:t>
            </a:r>
          </a:p>
        </p:txBody>
      </p:sp>
      <p:sp>
        <p:nvSpPr>
          <p:cNvPr id="14" name="Rectangle 13"/>
          <p:cNvSpPr/>
          <p:nvPr/>
        </p:nvSpPr>
        <p:spPr>
          <a:xfrm>
            <a:off x="5806440" y="2066543"/>
            <a:ext cx="8275320" cy="5202936"/>
          </a:xfrm>
          <a:prstGeom prst="rect">
            <a:avLst/>
          </a:prstGeom>
          <a:solidFill>
            <a:srgbClr val="20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1-olcum-istasyonu.png"/>
          <p:cNvPicPr>
            <a:picLocks noChangeAspect="1"/>
          </p:cNvPicPr>
          <p:nvPr/>
        </p:nvPicPr>
        <p:blipFill>
          <a:blip r:embed="rId2"/>
          <a:srcRect l="18000" t="7500"/>
          <a:stretch>
            <a:fillRect/>
          </a:stretch>
        </p:blipFill>
        <p:spPr>
          <a:xfrm>
            <a:off x="5916168" y="2176272"/>
            <a:ext cx="8055864" cy="4983480"/>
          </a:xfrm>
          <a:prstGeom prst="rect">
            <a:avLst/>
          </a:prstGeom>
        </p:spPr>
      </p:pic>
      <p:sp>
        <p:nvSpPr>
          <p:cNvPr id="16" name="TextBox 15"/>
          <p:cNvSpPr txBox="1"/>
          <p:nvPr/>
        </p:nvSpPr>
        <p:spPr>
          <a:xfrm>
            <a:off x="5916168" y="1773936"/>
            <a:ext cx="7772400" cy="228600"/>
          </a:xfrm>
          <a:prstGeom prst="rect">
            <a:avLst/>
          </a:prstGeom>
          <a:noFill/>
        </p:spPr>
        <p:txBody>
          <a:bodyPr wrap="square" lIns="0" rIns="0" tIns="0" bIns="0">
            <a:spAutoFit/>
          </a:bodyPr>
          <a:lstStyle/>
          <a:p>
            <a:pPr>
              <a:spcAft>
                <a:spcPts val="0"/>
              </a:spcAft>
              <a:defRPr sz="1008" b="1">
                <a:solidFill>
                  <a:srgbClr val="43DFC0"/>
                </a:solidFill>
                <a:latin typeface="Arial"/>
              </a:defRPr>
            </a:pPr>
            <a:r>
              <a:t>ÜRÜNDEN GÖRÜNÜM / ÖLÇÜM İSTASYONU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4"/>
        </a:solidFill>
        <a:effectLst/>
      </p:bgPr>
    </p:bg>
    <p:spTree>
      <p:nvGrpSpPr>
        <p:cNvPr id="1" name=""/>
        <p:cNvGrpSpPr/>
        <p:nvPr/>
      </p:nvGrpSpPr>
      <p:grpSpPr/>
      <p:sp>
        <p:nvSpPr>
          <p:cNvPr id="2" name="Rectangle 1"/>
          <p:cNvSpPr/>
          <p:nvPr/>
        </p:nvSpPr>
        <p:spPr>
          <a:xfrm>
            <a:off x="548640" y="448056"/>
            <a:ext cx="73152" cy="265176"/>
          </a:xfrm>
          <a:prstGeom prst="rect">
            <a:avLst/>
          </a:prstGeom>
          <a:solidFill>
            <a:srgbClr val="43D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5486400" cy="274320"/>
          </a:xfrm>
          <a:prstGeom prst="rect">
            <a:avLst/>
          </a:prstGeom>
          <a:noFill/>
        </p:spPr>
        <p:txBody>
          <a:bodyPr wrap="square" lIns="0" rIns="0" tIns="0" bIns="0">
            <a:spAutoFit/>
          </a:bodyPr>
          <a:lstStyle/>
          <a:p>
            <a:pPr>
              <a:spcAft>
                <a:spcPts val="0"/>
              </a:spcAft>
              <a:defRPr sz="1655" b="1">
                <a:solidFill>
                  <a:srgbClr val="F7F9FF"/>
                </a:solidFill>
                <a:latin typeface="Arial"/>
              </a:defRPr>
            </a:pPr>
            <a:r>
              <a:t>RİTİM / QUALITY</a:t>
            </a:r>
          </a:p>
        </p:txBody>
      </p:sp>
      <p:sp>
        <p:nvSpPr>
          <p:cNvPr id="4" name="TextBox 3"/>
          <p:cNvSpPr txBox="1"/>
          <p:nvPr/>
        </p:nvSpPr>
        <p:spPr>
          <a:xfrm>
            <a:off x="9601200" y="484632"/>
            <a:ext cx="4480560" cy="228600"/>
          </a:xfrm>
          <a:prstGeom prst="rect">
            <a:avLst/>
          </a:prstGeom>
          <a:noFill/>
        </p:spPr>
        <p:txBody>
          <a:bodyPr wrap="square" lIns="0" rIns="0" tIns="0" bIns="0">
            <a:spAutoFit/>
          </a:bodyPr>
          <a:lstStyle/>
          <a:p>
            <a:pPr>
              <a:spcAft>
                <a:spcPts val="0"/>
              </a:spcAft>
              <a:defRPr sz="1080" b="0">
                <a:solidFill>
                  <a:srgbClr val="A9B7D0"/>
                </a:solidFill>
                <a:latin typeface="Arial"/>
              </a:defRPr>
            </a:pPr>
            <a:r>
              <a:t>02 — HANGİ SORUNLARI ÇÖZER?</a:t>
            </a:r>
          </a:p>
        </p:txBody>
      </p:sp>
      <p:sp>
        <p:nvSpPr>
          <p:cNvPr id="5" name="Rectangle 4"/>
          <p:cNvSpPr/>
          <p:nvPr/>
        </p:nvSpPr>
        <p:spPr>
          <a:xfrm>
            <a:off x="548640" y="7680960"/>
            <a:ext cx="13533120" cy="9144"/>
          </a:xfrm>
          <a:prstGeom prst="rect">
            <a:avLst/>
          </a:prstGeom>
          <a:solidFill>
            <a:srgbClr val="2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854696"/>
            <a:ext cx="10972800" cy="182880"/>
          </a:xfrm>
          <a:prstGeom prst="rect">
            <a:avLst/>
          </a:prstGeom>
          <a:noFill/>
        </p:spPr>
        <p:txBody>
          <a:bodyPr wrap="square" lIns="0" rIns="0" tIns="0" bIns="0">
            <a:spAutoFit/>
          </a:bodyPr>
          <a:lstStyle/>
          <a:p>
            <a:pPr>
              <a:spcAft>
                <a:spcPts val="0"/>
              </a:spcAft>
              <a:defRPr sz="864" b="0">
                <a:solidFill>
                  <a:srgbClr val="A9B7D0"/>
                </a:solidFill>
                <a:latin typeface="Arial"/>
              </a:defRPr>
            </a:pPr>
            <a:r>
              <a:t>RİTİM AİLESİ  •  ÜRÜN TANITIMI</a:t>
            </a:r>
          </a:p>
        </p:txBody>
      </p:sp>
      <p:sp>
        <p:nvSpPr>
          <p:cNvPr id="7" name="TextBox 6"/>
          <p:cNvSpPr txBox="1"/>
          <p:nvPr/>
        </p:nvSpPr>
        <p:spPr>
          <a:xfrm>
            <a:off x="13441680" y="7818120"/>
            <a:ext cx="640080" cy="219456"/>
          </a:xfrm>
          <a:prstGeom prst="rect">
            <a:avLst/>
          </a:prstGeom>
          <a:noFill/>
        </p:spPr>
        <p:txBody>
          <a:bodyPr wrap="square" lIns="0" rIns="0" tIns="0" bIns="0">
            <a:spAutoFit/>
          </a:bodyPr>
          <a:lstStyle/>
          <a:p>
            <a:pPr>
              <a:spcAft>
                <a:spcPts val="0"/>
              </a:spcAft>
              <a:defRPr sz="1008" b="0">
                <a:solidFill>
                  <a:srgbClr val="A9B7D0"/>
                </a:solidFill>
                <a:latin typeface="Arial"/>
              </a:defRPr>
            </a:pPr>
            <a:r>
              <a:t>02 / 03</a:t>
            </a:r>
          </a:p>
        </p:txBody>
      </p:sp>
      <p:sp>
        <p:nvSpPr>
          <p:cNvPr id="8" name="TextBox 7"/>
          <p:cNvSpPr txBox="1"/>
          <p:nvPr/>
        </p:nvSpPr>
        <p:spPr>
          <a:xfrm>
            <a:off x="548640" y="1170432"/>
            <a:ext cx="13350240" cy="612648"/>
          </a:xfrm>
          <a:prstGeom prst="rect">
            <a:avLst/>
          </a:prstGeom>
          <a:noFill/>
        </p:spPr>
        <p:txBody>
          <a:bodyPr wrap="square" lIns="0" rIns="0" tIns="0" bIns="0">
            <a:spAutoFit/>
          </a:bodyPr>
          <a:lstStyle/>
          <a:p>
            <a:pPr>
              <a:spcAft>
                <a:spcPts val="0"/>
              </a:spcAft>
              <a:defRPr sz="3311" b="1">
                <a:solidFill>
                  <a:srgbClr val="F7F9FF"/>
                </a:solidFill>
                <a:latin typeface="Arial"/>
              </a:defRPr>
            </a:pPr>
            <a:r>
              <a:t>Dağınık kayıtlardan ortak bir kalite akışına.</a:t>
            </a:r>
          </a:p>
        </p:txBody>
      </p:sp>
      <p:sp>
        <p:nvSpPr>
          <p:cNvPr id="9" name="Rectangle 8"/>
          <p:cNvSpPr/>
          <p:nvPr/>
        </p:nvSpPr>
        <p:spPr>
          <a:xfrm>
            <a:off x="548640" y="2139696"/>
            <a:ext cx="4297680" cy="2441448"/>
          </a:xfrm>
          <a:prstGeom prst="rect">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350008"/>
            <a:ext cx="685800" cy="365760"/>
          </a:xfrm>
          <a:prstGeom prst="rect">
            <a:avLst/>
          </a:prstGeom>
          <a:noFill/>
        </p:spPr>
        <p:txBody>
          <a:bodyPr wrap="square" lIns="0" rIns="0" tIns="0" bIns="0">
            <a:spAutoFit/>
          </a:bodyPr>
          <a:lstStyle/>
          <a:p>
            <a:pPr>
              <a:spcAft>
                <a:spcPts val="0"/>
              </a:spcAft>
              <a:defRPr sz="2232" b="1">
                <a:solidFill>
                  <a:srgbClr val="43DFC0"/>
                </a:solidFill>
                <a:latin typeface="Arial"/>
              </a:defRPr>
            </a:pPr>
            <a:r>
              <a:t>01</a:t>
            </a:r>
          </a:p>
        </p:txBody>
      </p:sp>
      <p:sp>
        <p:nvSpPr>
          <p:cNvPr id="11" name="TextBox 10"/>
          <p:cNvSpPr txBox="1"/>
          <p:nvPr/>
        </p:nvSpPr>
        <p:spPr>
          <a:xfrm>
            <a:off x="768096" y="2852928"/>
            <a:ext cx="3877056" cy="320040"/>
          </a:xfrm>
          <a:prstGeom prst="rect">
            <a:avLst/>
          </a:prstGeom>
          <a:noFill/>
        </p:spPr>
        <p:txBody>
          <a:bodyPr wrap="square" lIns="0" rIns="0" tIns="0" bIns="0">
            <a:spAutoFit/>
          </a:bodyPr>
          <a:lstStyle/>
          <a:p>
            <a:pPr>
              <a:spcAft>
                <a:spcPts val="0"/>
              </a:spcAft>
              <a:defRPr sz="1439" b="0">
                <a:solidFill>
                  <a:srgbClr val="A9B7D0"/>
                </a:solidFill>
                <a:latin typeface="Arial"/>
              </a:defRPr>
            </a:pPr>
            <a:r>
              <a:t>Farklı dosyalar, farklı standartlar</a:t>
            </a:r>
          </a:p>
        </p:txBody>
      </p:sp>
      <p:sp>
        <p:nvSpPr>
          <p:cNvPr id="12" name="TextBox 11"/>
          <p:cNvSpPr txBox="1"/>
          <p:nvPr/>
        </p:nvSpPr>
        <p:spPr>
          <a:xfrm>
            <a:off x="768096" y="3300984"/>
            <a:ext cx="3877056" cy="566928"/>
          </a:xfrm>
          <a:prstGeom prst="rect">
            <a:avLst/>
          </a:prstGeom>
          <a:noFill/>
        </p:spPr>
        <p:txBody>
          <a:bodyPr wrap="square" lIns="0" rIns="0" tIns="0" bIns="0">
            <a:spAutoFit/>
          </a:bodyPr>
          <a:lstStyle/>
          <a:p>
            <a:pPr>
              <a:spcAft>
                <a:spcPts val="0"/>
              </a:spcAft>
              <a:defRPr sz="1943" b="1">
                <a:solidFill>
                  <a:srgbClr val="F7F9FF"/>
                </a:solidFill>
                <a:latin typeface="Arial"/>
              </a:defRPr>
            </a:pPr>
            <a:r>
              <a:t>Kontrol planlarını merkezileştirir.</a:t>
            </a:r>
          </a:p>
        </p:txBody>
      </p:sp>
      <p:sp>
        <p:nvSpPr>
          <p:cNvPr id="13" name="TextBox 12"/>
          <p:cNvSpPr txBox="1"/>
          <p:nvPr/>
        </p:nvSpPr>
        <p:spPr>
          <a:xfrm>
            <a:off x="768096" y="3986784"/>
            <a:ext cx="3877056" cy="512064"/>
          </a:xfrm>
          <a:prstGeom prst="rect">
            <a:avLst/>
          </a:prstGeom>
          <a:noFill/>
        </p:spPr>
        <p:txBody>
          <a:bodyPr wrap="square" lIns="0" rIns="0" tIns="0" bIns="0">
            <a:spAutoFit/>
          </a:bodyPr>
          <a:lstStyle/>
          <a:p>
            <a:pPr>
              <a:spcAft>
                <a:spcPts val="0"/>
              </a:spcAft>
              <a:defRPr sz="1439" b="0">
                <a:solidFill>
                  <a:srgbClr val="A9B7D0"/>
                </a:solidFill>
                <a:latin typeface="Arial"/>
              </a:defRPr>
            </a:pPr>
            <a:r>
              <a:t>Ölçüm noktaları, toleranslar ve</a:t>
            </a:r>
          </a:p>
          <a:p>
            <a:pPr>
              <a:spcAft>
                <a:spcPts val="0"/>
              </a:spcAft>
              <a:defRPr sz="1439" b="0">
                <a:solidFill>
                  <a:srgbClr val="A9B7D0"/>
                </a:solidFill>
                <a:latin typeface="Arial"/>
              </a:defRPr>
            </a:pPr>
            <a:r>
              <a:t>revizyonlar aynı yerde yönetilir.</a:t>
            </a:r>
          </a:p>
        </p:txBody>
      </p:sp>
      <p:sp>
        <p:nvSpPr>
          <p:cNvPr id="14" name="Rectangle 13"/>
          <p:cNvSpPr/>
          <p:nvPr/>
        </p:nvSpPr>
        <p:spPr>
          <a:xfrm>
            <a:off x="5166360" y="2139696"/>
            <a:ext cx="4297680" cy="2441448"/>
          </a:xfrm>
          <a:prstGeom prst="rect">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85816" y="2350008"/>
            <a:ext cx="685800" cy="365760"/>
          </a:xfrm>
          <a:prstGeom prst="rect">
            <a:avLst/>
          </a:prstGeom>
          <a:noFill/>
        </p:spPr>
        <p:txBody>
          <a:bodyPr wrap="square" lIns="0" rIns="0" tIns="0" bIns="0">
            <a:spAutoFit/>
          </a:bodyPr>
          <a:lstStyle/>
          <a:p>
            <a:pPr>
              <a:spcAft>
                <a:spcPts val="0"/>
              </a:spcAft>
              <a:defRPr sz="2232" b="1">
                <a:solidFill>
                  <a:srgbClr val="43DFC0"/>
                </a:solidFill>
                <a:latin typeface="Arial"/>
              </a:defRPr>
            </a:pPr>
            <a:r>
              <a:t>02</a:t>
            </a:r>
          </a:p>
        </p:txBody>
      </p:sp>
      <p:sp>
        <p:nvSpPr>
          <p:cNvPr id="16" name="TextBox 15"/>
          <p:cNvSpPr txBox="1"/>
          <p:nvPr/>
        </p:nvSpPr>
        <p:spPr>
          <a:xfrm>
            <a:off x="5385816" y="2852928"/>
            <a:ext cx="3877056" cy="320040"/>
          </a:xfrm>
          <a:prstGeom prst="rect">
            <a:avLst/>
          </a:prstGeom>
          <a:noFill/>
        </p:spPr>
        <p:txBody>
          <a:bodyPr wrap="square" lIns="0" rIns="0" tIns="0" bIns="0">
            <a:spAutoFit/>
          </a:bodyPr>
          <a:lstStyle/>
          <a:p>
            <a:pPr>
              <a:spcAft>
                <a:spcPts val="0"/>
              </a:spcAft>
              <a:defRPr sz="1439" b="0">
                <a:solidFill>
                  <a:srgbClr val="A9B7D0"/>
                </a:solidFill>
                <a:latin typeface="Arial"/>
              </a:defRPr>
            </a:pPr>
            <a:r>
              <a:t>Operatöre bağlı uygulama farkları</a:t>
            </a:r>
          </a:p>
        </p:txBody>
      </p:sp>
      <p:sp>
        <p:nvSpPr>
          <p:cNvPr id="17" name="TextBox 16"/>
          <p:cNvSpPr txBox="1"/>
          <p:nvPr/>
        </p:nvSpPr>
        <p:spPr>
          <a:xfrm>
            <a:off x="5385816" y="3300984"/>
            <a:ext cx="3877056" cy="566928"/>
          </a:xfrm>
          <a:prstGeom prst="rect">
            <a:avLst/>
          </a:prstGeom>
          <a:noFill/>
        </p:spPr>
        <p:txBody>
          <a:bodyPr wrap="square" lIns="0" rIns="0" tIns="0" bIns="0">
            <a:spAutoFit/>
          </a:bodyPr>
          <a:lstStyle/>
          <a:p>
            <a:pPr>
              <a:spcAft>
                <a:spcPts val="0"/>
              </a:spcAft>
              <a:defRPr sz="1943" b="1">
                <a:solidFill>
                  <a:srgbClr val="F7F9FF"/>
                </a:solidFill>
                <a:latin typeface="Arial"/>
              </a:defRPr>
            </a:pPr>
            <a:r>
              <a:t>Ölçümü adım adım yönlendirir.</a:t>
            </a:r>
          </a:p>
        </p:txBody>
      </p:sp>
      <p:sp>
        <p:nvSpPr>
          <p:cNvPr id="18" name="TextBox 17"/>
          <p:cNvSpPr txBox="1"/>
          <p:nvPr/>
        </p:nvSpPr>
        <p:spPr>
          <a:xfrm>
            <a:off x="5385816" y="3986784"/>
            <a:ext cx="3877056" cy="512064"/>
          </a:xfrm>
          <a:prstGeom prst="rect">
            <a:avLst/>
          </a:prstGeom>
          <a:noFill/>
        </p:spPr>
        <p:txBody>
          <a:bodyPr wrap="square" lIns="0" rIns="0" tIns="0" bIns="0">
            <a:spAutoFit/>
          </a:bodyPr>
          <a:lstStyle/>
          <a:p>
            <a:pPr>
              <a:spcAft>
                <a:spcPts val="0"/>
              </a:spcAft>
              <a:defRPr sz="1439" b="0">
                <a:solidFill>
                  <a:srgbClr val="A9B7D0"/>
                </a:solidFill>
                <a:latin typeface="Arial"/>
              </a:defRPr>
            </a:pPr>
            <a:r>
              <a:t>Teknik resimde aktif nokta gösterilir;</a:t>
            </a:r>
          </a:p>
          <a:p>
            <a:pPr>
              <a:spcAft>
                <a:spcPts val="0"/>
              </a:spcAft>
              <a:defRPr sz="1439" b="0">
                <a:solidFill>
                  <a:srgbClr val="A9B7D0"/>
                </a:solidFill>
                <a:latin typeface="Arial"/>
              </a:defRPr>
            </a:pPr>
            <a:r>
              <a:t>girilen değer toleransla karşılaştırılır.</a:t>
            </a:r>
          </a:p>
        </p:txBody>
      </p:sp>
      <p:sp>
        <p:nvSpPr>
          <p:cNvPr id="19" name="Rectangle 18"/>
          <p:cNvSpPr/>
          <p:nvPr/>
        </p:nvSpPr>
        <p:spPr>
          <a:xfrm>
            <a:off x="9784080" y="2139696"/>
            <a:ext cx="4297680" cy="2441448"/>
          </a:xfrm>
          <a:prstGeom prst="rect">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03536" y="2350008"/>
            <a:ext cx="685800" cy="365760"/>
          </a:xfrm>
          <a:prstGeom prst="rect">
            <a:avLst/>
          </a:prstGeom>
          <a:noFill/>
        </p:spPr>
        <p:txBody>
          <a:bodyPr wrap="square" lIns="0" rIns="0" tIns="0" bIns="0">
            <a:spAutoFit/>
          </a:bodyPr>
          <a:lstStyle/>
          <a:p>
            <a:pPr>
              <a:spcAft>
                <a:spcPts val="0"/>
              </a:spcAft>
              <a:defRPr sz="2232" b="1">
                <a:solidFill>
                  <a:srgbClr val="43DFC0"/>
                </a:solidFill>
                <a:latin typeface="Arial"/>
              </a:defRPr>
            </a:pPr>
            <a:r>
              <a:t>03</a:t>
            </a:r>
          </a:p>
        </p:txBody>
      </p:sp>
      <p:sp>
        <p:nvSpPr>
          <p:cNvPr id="21" name="TextBox 20"/>
          <p:cNvSpPr txBox="1"/>
          <p:nvPr/>
        </p:nvSpPr>
        <p:spPr>
          <a:xfrm>
            <a:off x="10003536" y="2852928"/>
            <a:ext cx="3877056" cy="320040"/>
          </a:xfrm>
          <a:prstGeom prst="rect">
            <a:avLst/>
          </a:prstGeom>
          <a:noFill/>
        </p:spPr>
        <p:txBody>
          <a:bodyPr wrap="square" lIns="0" rIns="0" tIns="0" bIns="0">
            <a:spAutoFit/>
          </a:bodyPr>
          <a:lstStyle/>
          <a:p>
            <a:pPr>
              <a:spcAft>
                <a:spcPts val="0"/>
              </a:spcAft>
              <a:defRPr sz="1439" b="0">
                <a:solidFill>
                  <a:srgbClr val="A9B7D0"/>
                </a:solidFill>
                <a:latin typeface="Arial"/>
              </a:defRPr>
            </a:pPr>
            <a:r>
              <a:t>Geçmiş kayda ulaşma güçlüğü</a:t>
            </a:r>
          </a:p>
        </p:txBody>
      </p:sp>
      <p:sp>
        <p:nvSpPr>
          <p:cNvPr id="22" name="TextBox 21"/>
          <p:cNvSpPr txBox="1"/>
          <p:nvPr/>
        </p:nvSpPr>
        <p:spPr>
          <a:xfrm>
            <a:off x="10003536" y="3300984"/>
            <a:ext cx="3877056" cy="566928"/>
          </a:xfrm>
          <a:prstGeom prst="rect">
            <a:avLst/>
          </a:prstGeom>
          <a:noFill/>
        </p:spPr>
        <p:txBody>
          <a:bodyPr wrap="square" lIns="0" rIns="0" tIns="0" bIns="0">
            <a:spAutoFit/>
          </a:bodyPr>
          <a:lstStyle/>
          <a:p>
            <a:pPr>
              <a:spcAft>
                <a:spcPts val="0"/>
              </a:spcAft>
              <a:defRPr sz="1943" b="1">
                <a:solidFill>
                  <a:srgbClr val="F7F9FF"/>
                </a:solidFill>
                <a:latin typeface="Arial"/>
              </a:defRPr>
            </a:pPr>
            <a:r>
              <a:t>Ölçümün bağlamını korur.</a:t>
            </a:r>
          </a:p>
        </p:txBody>
      </p:sp>
      <p:sp>
        <p:nvSpPr>
          <p:cNvPr id="23" name="TextBox 22"/>
          <p:cNvSpPr txBox="1"/>
          <p:nvPr/>
        </p:nvSpPr>
        <p:spPr>
          <a:xfrm>
            <a:off x="10003536" y="3986784"/>
            <a:ext cx="3877056" cy="512064"/>
          </a:xfrm>
          <a:prstGeom prst="rect">
            <a:avLst/>
          </a:prstGeom>
          <a:noFill/>
        </p:spPr>
        <p:txBody>
          <a:bodyPr wrap="square" lIns="0" rIns="0" tIns="0" bIns="0">
            <a:spAutoFit/>
          </a:bodyPr>
          <a:lstStyle/>
          <a:p>
            <a:pPr>
              <a:spcAft>
                <a:spcPts val="0"/>
              </a:spcAft>
              <a:defRPr sz="1439" b="0">
                <a:solidFill>
                  <a:srgbClr val="A9B7D0"/>
                </a:solidFill>
                <a:latin typeface="Arial"/>
              </a:defRPr>
            </a:pPr>
            <a:r>
              <a:t>Ürün, lot, operatör ve zaman bilgisiyle</a:t>
            </a:r>
          </a:p>
          <a:p>
            <a:pPr>
              <a:spcAft>
                <a:spcPts val="0"/>
              </a:spcAft>
              <a:defRPr sz="1439" b="0">
                <a:solidFill>
                  <a:srgbClr val="A9B7D0"/>
                </a:solidFill>
                <a:latin typeface="Arial"/>
              </a:defRPr>
            </a:pPr>
            <a:r>
              <a:t>geçmiş sonuçlar takip edilir.</a:t>
            </a:r>
          </a:p>
        </p:txBody>
      </p:sp>
      <p:pic>
        <p:nvPicPr>
          <p:cNvPr id="24" name="Picture 23" descr="02-kontrol-planlari.png"/>
          <p:cNvPicPr>
            <a:picLocks noChangeAspect="1"/>
          </p:cNvPicPr>
          <p:nvPr/>
        </p:nvPicPr>
        <p:blipFill>
          <a:blip r:embed="rId2"/>
          <a:srcRect l="20000" t="21500" r="2500" b="42800"/>
          <a:stretch>
            <a:fillRect/>
          </a:stretch>
        </p:blipFill>
        <p:spPr>
          <a:xfrm>
            <a:off x="548640" y="4873752"/>
            <a:ext cx="8046720" cy="2313432"/>
          </a:xfrm>
          <a:prstGeom prst="rect">
            <a:avLst/>
          </a:prstGeom>
        </p:spPr>
      </p:pic>
      <p:sp>
        <p:nvSpPr>
          <p:cNvPr id="25" name="TextBox 24"/>
          <p:cNvSpPr txBox="1"/>
          <p:nvPr/>
        </p:nvSpPr>
        <p:spPr>
          <a:xfrm>
            <a:off x="8933688" y="5065776"/>
            <a:ext cx="5029200" cy="365760"/>
          </a:xfrm>
          <a:prstGeom prst="rect">
            <a:avLst/>
          </a:prstGeom>
          <a:noFill/>
        </p:spPr>
        <p:txBody>
          <a:bodyPr wrap="square" lIns="0" rIns="0" tIns="0" bIns="0">
            <a:spAutoFit/>
          </a:bodyPr>
          <a:lstStyle/>
          <a:p>
            <a:pPr>
              <a:spcAft>
                <a:spcPts val="0"/>
              </a:spcAft>
              <a:defRPr sz="1943" b="1">
                <a:solidFill>
                  <a:srgbClr val="43DFC0"/>
                </a:solidFill>
                <a:latin typeface="Arial"/>
              </a:defRPr>
            </a:pPr>
            <a:r>
              <a:t>Standart tanımla. Güvenle uygula.</a:t>
            </a:r>
          </a:p>
        </p:txBody>
      </p:sp>
      <p:sp>
        <p:nvSpPr>
          <p:cNvPr id="26" name="TextBox 25"/>
          <p:cNvSpPr txBox="1"/>
          <p:nvPr/>
        </p:nvSpPr>
        <p:spPr>
          <a:xfrm>
            <a:off x="8933688" y="5623560"/>
            <a:ext cx="4892040" cy="1060704"/>
          </a:xfrm>
          <a:prstGeom prst="rect">
            <a:avLst/>
          </a:prstGeom>
          <a:noFill/>
        </p:spPr>
        <p:txBody>
          <a:bodyPr wrap="square" lIns="0" rIns="0" tIns="0" bIns="0">
            <a:spAutoFit/>
          </a:bodyPr>
          <a:lstStyle/>
          <a:p>
            <a:pPr>
              <a:spcAft>
                <a:spcPts val="0"/>
              </a:spcAft>
              <a:defRPr sz="1872" b="0">
                <a:solidFill>
                  <a:srgbClr val="F7F9FF"/>
                </a:solidFill>
                <a:latin typeface="Arial"/>
              </a:defRPr>
            </a:pPr>
            <a:r>
              <a:t>Plan ve revizyon bilgisi ölçümle birlikte</a:t>
            </a:r>
          </a:p>
          <a:p>
            <a:pPr>
              <a:spcAft>
                <a:spcPts val="0"/>
              </a:spcAft>
              <a:defRPr sz="1872" b="0">
                <a:solidFill>
                  <a:srgbClr val="F7F9FF"/>
                </a:solidFill>
                <a:latin typeface="Arial"/>
              </a:defRPr>
            </a:pPr>
            <a:r>
              <a:t>izlenir. Ekipler aynı kontrol düzeni</a:t>
            </a:r>
          </a:p>
          <a:p>
            <a:pPr>
              <a:spcAft>
                <a:spcPts val="0"/>
              </a:spcAft>
              <a:defRPr sz="1872" b="0">
                <a:solidFill>
                  <a:srgbClr val="F7F9FF"/>
                </a:solidFill>
                <a:latin typeface="Arial"/>
              </a:defRPr>
            </a:pPr>
            <a:r>
              <a:t>üzerinden çalışır.</a:t>
            </a:r>
          </a:p>
        </p:txBody>
      </p:sp>
      <p:sp>
        <p:nvSpPr>
          <p:cNvPr id="27" name="TextBox 26"/>
          <p:cNvSpPr txBox="1"/>
          <p:nvPr/>
        </p:nvSpPr>
        <p:spPr>
          <a:xfrm>
            <a:off x="548640" y="7315200"/>
            <a:ext cx="8046720" cy="182880"/>
          </a:xfrm>
          <a:prstGeom prst="rect">
            <a:avLst/>
          </a:prstGeom>
          <a:noFill/>
        </p:spPr>
        <p:txBody>
          <a:bodyPr wrap="square" lIns="0" rIns="0" tIns="0" bIns="0">
            <a:spAutoFit/>
          </a:bodyPr>
          <a:lstStyle/>
          <a:p>
            <a:pPr>
              <a:spcAft>
                <a:spcPts val="0"/>
              </a:spcAft>
              <a:defRPr sz="864" b="0">
                <a:solidFill>
                  <a:srgbClr val="A9B7D0"/>
                </a:solidFill>
                <a:latin typeface="Arial"/>
              </a:defRPr>
            </a:pPr>
            <a:r>
              <a:t>ÜRÜNDEN GÖRÜNÜM / KONTROL PLANLARI · DEMO VERİ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4"/>
        </a:solidFill>
        <a:effectLst/>
      </p:bgPr>
    </p:bg>
    <p:spTree>
      <p:nvGrpSpPr>
        <p:cNvPr id="1" name=""/>
        <p:cNvGrpSpPr/>
        <p:nvPr/>
      </p:nvGrpSpPr>
      <p:grpSpPr/>
      <p:sp>
        <p:nvSpPr>
          <p:cNvPr id="2" name="Rectangle 1"/>
          <p:cNvSpPr/>
          <p:nvPr/>
        </p:nvSpPr>
        <p:spPr>
          <a:xfrm>
            <a:off x="548640" y="448056"/>
            <a:ext cx="73152" cy="265176"/>
          </a:xfrm>
          <a:prstGeom prst="rect">
            <a:avLst/>
          </a:prstGeom>
          <a:solidFill>
            <a:srgbClr val="43D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5486400" cy="274320"/>
          </a:xfrm>
          <a:prstGeom prst="rect">
            <a:avLst/>
          </a:prstGeom>
          <a:noFill/>
        </p:spPr>
        <p:txBody>
          <a:bodyPr wrap="square" lIns="0" rIns="0" tIns="0" bIns="0">
            <a:spAutoFit/>
          </a:bodyPr>
          <a:lstStyle/>
          <a:p>
            <a:pPr>
              <a:spcAft>
                <a:spcPts val="0"/>
              </a:spcAft>
              <a:defRPr sz="1655" b="1">
                <a:solidFill>
                  <a:srgbClr val="F7F9FF"/>
                </a:solidFill>
                <a:latin typeface="Arial"/>
              </a:defRPr>
            </a:pPr>
            <a:r>
              <a:t>RİTİM / QUALITY</a:t>
            </a:r>
          </a:p>
        </p:txBody>
      </p:sp>
      <p:sp>
        <p:nvSpPr>
          <p:cNvPr id="4" name="TextBox 3"/>
          <p:cNvSpPr txBox="1"/>
          <p:nvPr/>
        </p:nvSpPr>
        <p:spPr>
          <a:xfrm>
            <a:off x="9601200" y="484632"/>
            <a:ext cx="4480560" cy="228600"/>
          </a:xfrm>
          <a:prstGeom prst="rect">
            <a:avLst/>
          </a:prstGeom>
          <a:noFill/>
        </p:spPr>
        <p:txBody>
          <a:bodyPr wrap="square" lIns="0" rIns="0" tIns="0" bIns="0">
            <a:spAutoFit/>
          </a:bodyPr>
          <a:lstStyle/>
          <a:p>
            <a:pPr>
              <a:spcAft>
                <a:spcPts val="0"/>
              </a:spcAft>
              <a:defRPr sz="1080" b="0">
                <a:solidFill>
                  <a:srgbClr val="A9B7D0"/>
                </a:solidFill>
                <a:latin typeface="Arial"/>
              </a:defRPr>
            </a:pPr>
            <a:r>
              <a:t>03 — RİTİM AİLESİNE NE KAZANDIRIR?</a:t>
            </a:r>
          </a:p>
        </p:txBody>
      </p:sp>
      <p:sp>
        <p:nvSpPr>
          <p:cNvPr id="5" name="Rectangle 4"/>
          <p:cNvSpPr/>
          <p:nvPr/>
        </p:nvSpPr>
        <p:spPr>
          <a:xfrm>
            <a:off x="548640" y="7680960"/>
            <a:ext cx="13533120" cy="9144"/>
          </a:xfrm>
          <a:prstGeom prst="rect">
            <a:avLst/>
          </a:prstGeom>
          <a:solidFill>
            <a:srgbClr val="293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854696"/>
            <a:ext cx="10972800" cy="182880"/>
          </a:xfrm>
          <a:prstGeom prst="rect">
            <a:avLst/>
          </a:prstGeom>
          <a:noFill/>
        </p:spPr>
        <p:txBody>
          <a:bodyPr wrap="square" lIns="0" rIns="0" tIns="0" bIns="0">
            <a:spAutoFit/>
          </a:bodyPr>
          <a:lstStyle/>
          <a:p>
            <a:pPr>
              <a:spcAft>
                <a:spcPts val="0"/>
              </a:spcAft>
              <a:defRPr sz="864" b="0">
                <a:solidFill>
                  <a:srgbClr val="A9B7D0"/>
                </a:solidFill>
                <a:latin typeface="Arial"/>
              </a:defRPr>
            </a:pPr>
            <a:r>
              <a:t>RİTİM AİLESİ  •  ÜRÜN TANITIMI</a:t>
            </a:r>
          </a:p>
        </p:txBody>
      </p:sp>
      <p:sp>
        <p:nvSpPr>
          <p:cNvPr id="7" name="TextBox 6"/>
          <p:cNvSpPr txBox="1"/>
          <p:nvPr/>
        </p:nvSpPr>
        <p:spPr>
          <a:xfrm>
            <a:off x="13441680" y="7818120"/>
            <a:ext cx="640080" cy="219456"/>
          </a:xfrm>
          <a:prstGeom prst="rect">
            <a:avLst/>
          </a:prstGeom>
          <a:noFill/>
        </p:spPr>
        <p:txBody>
          <a:bodyPr wrap="square" lIns="0" rIns="0" tIns="0" bIns="0">
            <a:spAutoFit/>
          </a:bodyPr>
          <a:lstStyle/>
          <a:p>
            <a:pPr>
              <a:spcAft>
                <a:spcPts val="0"/>
              </a:spcAft>
              <a:defRPr sz="1008" b="0">
                <a:solidFill>
                  <a:srgbClr val="A9B7D0"/>
                </a:solidFill>
                <a:latin typeface="Arial"/>
              </a:defRPr>
            </a:pPr>
            <a:r>
              <a:t>03 / 03</a:t>
            </a:r>
          </a:p>
        </p:txBody>
      </p:sp>
      <p:sp>
        <p:nvSpPr>
          <p:cNvPr id="8" name="TextBox 7"/>
          <p:cNvSpPr txBox="1"/>
          <p:nvPr/>
        </p:nvSpPr>
        <p:spPr>
          <a:xfrm>
            <a:off x="548640" y="1170432"/>
            <a:ext cx="13258800" cy="594360"/>
          </a:xfrm>
          <a:prstGeom prst="rect">
            <a:avLst/>
          </a:prstGeom>
          <a:noFill/>
        </p:spPr>
        <p:txBody>
          <a:bodyPr wrap="square" lIns="0" rIns="0" tIns="0" bIns="0">
            <a:spAutoFit/>
          </a:bodyPr>
          <a:lstStyle/>
          <a:p>
            <a:pPr>
              <a:spcAft>
                <a:spcPts val="0"/>
              </a:spcAft>
              <a:defRPr sz="3456" b="1">
                <a:solidFill>
                  <a:srgbClr val="F7F9FF"/>
                </a:solidFill>
                <a:latin typeface="Arial"/>
              </a:defRPr>
            </a:pPr>
            <a:r>
              <a:t>Ölçümü kayda, veriyi karara dönüştürür.</a:t>
            </a:r>
          </a:p>
        </p:txBody>
      </p:sp>
      <p:sp>
        <p:nvSpPr>
          <p:cNvPr id="9" name="TextBox 8"/>
          <p:cNvSpPr txBox="1"/>
          <p:nvPr/>
        </p:nvSpPr>
        <p:spPr>
          <a:xfrm>
            <a:off x="548640" y="1901952"/>
            <a:ext cx="13167360" cy="411480"/>
          </a:xfrm>
          <a:prstGeom prst="rect">
            <a:avLst/>
          </a:prstGeom>
          <a:noFill/>
        </p:spPr>
        <p:txBody>
          <a:bodyPr wrap="square" lIns="0" rIns="0" tIns="0" bIns="0">
            <a:spAutoFit/>
          </a:bodyPr>
          <a:lstStyle/>
          <a:p>
            <a:pPr>
              <a:spcAft>
                <a:spcPts val="0"/>
              </a:spcAft>
              <a:defRPr sz="1943" b="0">
                <a:solidFill>
                  <a:srgbClr val="A9B7D0"/>
                </a:solidFill>
                <a:latin typeface="Arial"/>
              </a:defRPr>
            </a:pPr>
            <a:r>
              <a:t>Kalite ekibi için görünürlük. Operatör için netlik. Yönetim için ortak veri.</a:t>
            </a:r>
          </a:p>
        </p:txBody>
      </p:sp>
      <p:sp>
        <p:nvSpPr>
          <p:cNvPr id="10" name="Rectangle 9"/>
          <p:cNvSpPr/>
          <p:nvPr/>
        </p:nvSpPr>
        <p:spPr>
          <a:xfrm>
            <a:off x="548640" y="2679192"/>
            <a:ext cx="8092440" cy="4105656"/>
          </a:xfrm>
          <a:prstGeom prst="rect">
            <a:avLst/>
          </a:prstGeom>
          <a:solidFill>
            <a:srgbClr val="20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3-spc-analizi.png"/>
          <p:cNvPicPr>
            <a:picLocks noChangeAspect="1"/>
          </p:cNvPicPr>
          <p:nvPr/>
        </p:nvPicPr>
        <p:blipFill>
          <a:blip r:embed="rId2"/>
          <a:srcRect l="20500" t="31800" r="3000"/>
          <a:stretch>
            <a:fillRect/>
          </a:stretch>
        </p:blipFill>
        <p:spPr>
          <a:xfrm>
            <a:off x="658368" y="2788920"/>
            <a:ext cx="7872983" cy="3886200"/>
          </a:xfrm>
          <a:prstGeom prst="rect">
            <a:avLst/>
          </a:prstGeom>
        </p:spPr>
      </p:pic>
      <p:sp>
        <p:nvSpPr>
          <p:cNvPr id="12" name="TextBox 11"/>
          <p:cNvSpPr txBox="1"/>
          <p:nvPr/>
        </p:nvSpPr>
        <p:spPr>
          <a:xfrm>
            <a:off x="548640" y="6931152"/>
            <a:ext cx="8092440" cy="219456"/>
          </a:xfrm>
          <a:prstGeom prst="rect">
            <a:avLst/>
          </a:prstGeom>
          <a:noFill/>
        </p:spPr>
        <p:txBody>
          <a:bodyPr wrap="square" lIns="0" rIns="0" tIns="0" bIns="0">
            <a:spAutoFit/>
          </a:bodyPr>
          <a:lstStyle/>
          <a:p>
            <a:pPr>
              <a:spcAft>
                <a:spcPts val="0"/>
              </a:spcAft>
              <a:defRPr sz="936" b="0">
                <a:solidFill>
                  <a:srgbClr val="A9B7D0"/>
                </a:solidFill>
                <a:latin typeface="Arial"/>
              </a:defRPr>
            </a:pPr>
            <a:r>
              <a:t>ÜRÜNDEN GÖRÜNÜM / SPC ANALİZİ · DEMO VERİ</a:t>
            </a:r>
          </a:p>
        </p:txBody>
      </p:sp>
      <p:sp>
        <p:nvSpPr>
          <p:cNvPr id="13" name="TextBox 12"/>
          <p:cNvSpPr txBox="1"/>
          <p:nvPr/>
        </p:nvSpPr>
        <p:spPr>
          <a:xfrm>
            <a:off x="9144000" y="2734056"/>
            <a:ext cx="502920" cy="365760"/>
          </a:xfrm>
          <a:prstGeom prst="rect">
            <a:avLst/>
          </a:prstGeom>
          <a:noFill/>
        </p:spPr>
        <p:txBody>
          <a:bodyPr wrap="square" lIns="0" rIns="0" tIns="0" bIns="0">
            <a:spAutoFit/>
          </a:bodyPr>
          <a:lstStyle/>
          <a:p>
            <a:pPr>
              <a:spcAft>
                <a:spcPts val="0"/>
              </a:spcAft>
              <a:defRPr sz="1943" b="1">
                <a:solidFill>
                  <a:srgbClr val="43DFC0"/>
                </a:solidFill>
                <a:latin typeface="Arial"/>
              </a:defRPr>
            </a:pPr>
            <a:r>
              <a:t>01</a:t>
            </a:r>
          </a:p>
        </p:txBody>
      </p:sp>
      <p:sp>
        <p:nvSpPr>
          <p:cNvPr id="14" name="TextBox 13"/>
          <p:cNvSpPr txBox="1"/>
          <p:nvPr/>
        </p:nvSpPr>
        <p:spPr>
          <a:xfrm>
            <a:off x="9747504" y="2734056"/>
            <a:ext cx="4334256" cy="393192"/>
          </a:xfrm>
          <a:prstGeom prst="rect">
            <a:avLst/>
          </a:prstGeom>
          <a:noFill/>
        </p:spPr>
        <p:txBody>
          <a:bodyPr wrap="square" lIns="0" rIns="0" tIns="0" bIns="0">
            <a:spAutoFit/>
          </a:bodyPr>
          <a:lstStyle/>
          <a:p>
            <a:pPr>
              <a:spcAft>
                <a:spcPts val="0"/>
              </a:spcAft>
              <a:defRPr sz="2016" b="1">
                <a:solidFill>
                  <a:srgbClr val="F7F9FF"/>
                </a:solidFill>
                <a:latin typeface="Arial"/>
              </a:defRPr>
            </a:pPr>
            <a:r>
              <a:t>Süreç değişimini görün</a:t>
            </a:r>
          </a:p>
        </p:txBody>
      </p:sp>
      <p:sp>
        <p:nvSpPr>
          <p:cNvPr id="15" name="TextBox 14"/>
          <p:cNvSpPr txBox="1"/>
          <p:nvPr/>
        </p:nvSpPr>
        <p:spPr>
          <a:xfrm>
            <a:off x="9747504" y="3246120"/>
            <a:ext cx="4334256" cy="658368"/>
          </a:xfrm>
          <a:prstGeom prst="rect">
            <a:avLst/>
          </a:prstGeom>
          <a:noFill/>
        </p:spPr>
        <p:txBody>
          <a:bodyPr wrap="square" lIns="0" rIns="0" tIns="0" bIns="0">
            <a:spAutoFit/>
          </a:bodyPr>
          <a:lstStyle/>
          <a:p>
            <a:pPr>
              <a:spcAft>
                <a:spcPts val="0"/>
              </a:spcAft>
              <a:defRPr sz="1655" b="0">
                <a:solidFill>
                  <a:srgbClr val="A9B7D0"/>
                </a:solidFill>
                <a:latin typeface="Arial"/>
              </a:defRPr>
            </a:pPr>
            <a:r>
              <a:t>Cp/Cpk, histogram ve kontrol grafikleriyle</a:t>
            </a:r>
          </a:p>
          <a:p>
            <a:pPr>
              <a:spcAft>
                <a:spcPts val="0"/>
              </a:spcAft>
              <a:defRPr sz="1655" b="0">
                <a:solidFill>
                  <a:srgbClr val="A9B7D0"/>
                </a:solidFill>
                <a:latin typeface="Arial"/>
              </a:defRPr>
            </a:pPr>
            <a:r>
              <a:t>süreç performansını değerlendirin.</a:t>
            </a:r>
          </a:p>
        </p:txBody>
      </p:sp>
      <p:sp>
        <p:nvSpPr>
          <p:cNvPr id="16" name="TextBox 15"/>
          <p:cNvSpPr txBox="1"/>
          <p:nvPr/>
        </p:nvSpPr>
        <p:spPr>
          <a:xfrm>
            <a:off x="9144000" y="4169663"/>
            <a:ext cx="502920" cy="365760"/>
          </a:xfrm>
          <a:prstGeom prst="rect">
            <a:avLst/>
          </a:prstGeom>
          <a:noFill/>
        </p:spPr>
        <p:txBody>
          <a:bodyPr wrap="square" lIns="0" rIns="0" tIns="0" bIns="0">
            <a:spAutoFit/>
          </a:bodyPr>
          <a:lstStyle/>
          <a:p>
            <a:pPr>
              <a:spcAft>
                <a:spcPts val="0"/>
              </a:spcAft>
              <a:defRPr sz="1943" b="1">
                <a:solidFill>
                  <a:srgbClr val="43DFC0"/>
                </a:solidFill>
                <a:latin typeface="Arial"/>
              </a:defRPr>
            </a:pPr>
            <a:r>
              <a:t>02</a:t>
            </a:r>
          </a:p>
        </p:txBody>
      </p:sp>
      <p:sp>
        <p:nvSpPr>
          <p:cNvPr id="17" name="TextBox 16"/>
          <p:cNvSpPr txBox="1"/>
          <p:nvPr/>
        </p:nvSpPr>
        <p:spPr>
          <a:xfrm>
            <a:off x="9747504" y="4169663"/>
            <a:ext cx="4334256" cy="393192"/>
          </a:xfrm>
          <a:prstGeom prst="rect">
            <a:avLst/>
          </a:prstGeom>
          <a:noFill/>
        </p:spPr>
        <p:txBody>
          <a:bodyPr wrap="square" lIns="0" rIns="0" tIns="0" bIns="0">
            <a:spAutoFit/>
          </a:bodyPr>
          <a:lstStyle/>
          <a:p>
            <a:pPr>
              <a:spcAft>
                <a:spcPts val="0"/>
              </a:spcAft>
              <a:defRPr sz="2016" b="1">
                <a:solidFill>
                  <a:srgbClr val="F7F9FF"/>
                </a:solidFill>
                <a:latin typeface="Arial"/>
              </a:defRPr>
            </a:pPr>
            <a:r>
              <a:t>Geçmişi daha kolay inceleyin</a:t>
            </a:r>
          </a:p>
        </p:txBody>
      </p:sp>
      <p:sp>
        <p:nvSpPr>
          <p:cNvPr id="18" name="TextBox 17"/>
          <p:cNvSpPr txBox="1"/>
          <p:nvPr/>
        </p:nvSpPr>
        <p:spPr>
          <a:xfrm>
            <a:off x="9747504" y="4681728"/>
            <a:ext cx="4334256" cy="658368"/>
          </a:xfrm>
          <a:prstGeom prst="rect">
            <a:avLst/>
          </a:prstGeom>
          <a:noFill/>
        </p:spPr>
        <p:txBody>
          <a:bodyPr wrap="square" lIns="0" rIns="0" tIns="0" bIns="0">
            <a:spAutoFit/>
          </a:bodyPr>
          <a:lstStyle/>
          <a:p>
            <a:pPr>
              <a:spcAft>
                <a:spcPts val="0"/>
              </a:spcAft>
              <a:defRPr sz="1655" b="0">
                <a:solidFill>
                  <a:srgbClr val="A9B7D0"/>
                </a:solidFill>
                <a:latin typeface="Arial"/>
              </a:defRPr>
            </a:pPr>
            <a:r>
              <a:t>Ölçüm kayıtları ve plan revizyonlarıyla</a:t>
            </a:r>
          </a:p>
          <a:p>
            <a:pPr>
              <a:spcAft>
                <a:spcPts val="0"/>
              </a:spcAft>
              <a:defRPr sz="1655" b="0">
                <a:solidFill>
                  <a:srgbClr val="A9B7D0"/>
                </a:solidFill>
                <a:latin typeface="Arial"/>
              </a:defRPr>
            </a:pPr>
            <a:r>
              <a:t>inceleme ve raporlamayı destekleyin.</a:t>
            </a:r>
          </a:p>
        </p:txBody>
      </p:sp>
      <p:sp>
        <p:nvSpPr>
          <p:cNvPr id="19" name="TextBox 18"/>
          <p:cNvSpPr txBox="1"/>
          <p:nvPr/>
        </p:nvSpPr>
        <p:spPr>
          <a:xfrm>
            <a:off x="9144000" y="5605272"/>
            <a:ext cx="502920" cy="365760"/>
          </a:xfrm>
          <a:prstGeom prst="rect">
            <a:avLst/>
          </a:prstGeom>
          <a:noFill/>
        </p:spPr>
        <p:txBody>
          <a:bodyPr wrap="square" lIns="0" rIns="0" tIns="0" bIns="0">
            <a:spAutoFit/>
          </a:bodyPr>
          <a:lstStyle/>
          <a:p>
            <a:pPr>
              <a:spcAft>
                <a:spcPts val="0"/>
              </a:spcAft>
              <a:defRPr sz="1943" b="1">
                <a:solidFill>
                  <a:srgbClr val="43DFC0"/>
                </a:solidFill>
                <a:latin typeface="Arial"/>
              </a:defRPr>
            </a:pPr>
            <a:r>
              <a:t>03</a:t>
            </a:r>
          </a:p>
        </p:txBody>
      </p:sp>
      <p:sp>
        <p:nvSpPr>
          <p:cNvPr id="20" name="TextBox 19"/>
          <p:cNvSpPr txBox="1"/>
          <p:nvPr/>
        </p:nvSpPr>
        <p:spPr>
          <a:xfrm>
            <a:off x="9747504" y="5605272"/>
            <a:ext cx="4334256" cy="393192"/>
          </a:xfrm>
          <a:prstGeom prst="rect">
            <a:avLst/>
          </a:prstGeom>
          <a:noFill/>
        </p:spPr>
        <p:txBody>
          <a:bodyPr wrap="square" lIns="0" rIns="0" tIns="0" bIns="0">
            <a:spAutoFit/>
          </a:bodyPr>
          <a:lstStyle/>
          <a:p>
            <a:pPr>
              <a:spcAft>
                <a:spcPts val="0"/>
              </a:spcAft>
              <a:defRPr sz="2016" b="1">
                <a:solidFill>
                  <a:srgbClr val="F7F9FF"/>
                </a:solidFill>
                <a:latin typeface="Arial"/>
              </a:defRPr>
            </a:pPr>
            <a:r>
              <a:t>İyileştirmeyi veriye dayandırın</a:t>
            </a:r>
          </a:p>
        </p:txBody>
      </p:sp>
      <p:sp>
        <p:nvSpPr>
          <p:cNvPr id="21" name="TextBox 20"/>
          <p:cNvSpPr txBox="1"/>
          <p:nvPr/>
        </p:nvSpPr>
        <p:spPr>
          <a:xfrm>
            <a:off x="9747504" y="6117336"/>
            <a:ext cx="4334256" cy="658368"/>
          </a:xfrm>
          <a:prstGeom prst="rect">
            <a:avLst/>
          </a:prstGeom>
          <a:noFill/>
        </p:spPr>
        <p:txBody>
          <a:bodyPr wrap="square" lIns="0" rIns="0" tIns="0" bIns="0">
            <a:spAutoFit/>
          </a:bodyPr>
          <a:lstStyle/>
          <a:p>
            <a:pPr>
              <a:spcAft>
                <a:spcPts val="0"/>
              </a:spcAft>
              <a:defRPr sz="1655" b="0">
                <a:solidFill>
                  <a:srgbClr val="A9B7D0"/>
                </a:solidFill>
                <a:latin typeface="Arial"/>
              </a:defRPr>
            </a:pPr>
            <a:r>
              <a:t>Kalite ve üretim ekiplerini aynı ölçüm</a:t>
            </a:r>
          </a:p>
          <a:p>
            <a:pPr>
              <a:spcAft>
                <a:spcPts val="0"/>
              </a:spcAft>
              <a:defRPr sz="1655" b="0">
                <a:solidFill>
                  <a:srgbClr val="A9B7D0"/>
                </a:solidFill>
                <a:latin typeface="Arial"/>
              </a:defRPr>
            </a:pPr>
            <a:r>
              <a:t>verisi etrafında buluşturun.</a:t>
            </a:r>
          </a:p>
        </p:txBody>
      </p:sp>
      <p:sp>
        <p:nvSpPr>
          <p:cNvPr id="22" name="TextBox 21"/>
          <p:cNvSpPr txBox="1"/>
          <p:nvPr/>
        </p:nvSpPr>
        <p:spPr>
          <a:xfrm>
            <a:off x="548640" y="7260336"/>
            <a:ext cx="13533120" cy="301752"/>
          </a:xfrm>
          <a:prstGeom prst="rect">
            <a:avLst/>
          </a:prstGeom>
          <a:noFill/>
        </p:spPr>
        <p:txBody>
          <a:bodyPr wrap="square" lIns="0" rIns="0" tIns="0" bIns="0">
            <a:spAutoFit/>
          </a:bodyPr>
          <a:lstStyle/>
          <a:p>
            <a:pPr>
              <a:spcAft>
                <a:spcPts val="0"/>
              </a:spcAft>
              <a:defRPr sz="1800" b="1">
                <a:solidFill>
                  <a:srgbClr val="43DFC0"/>
                </a:solidFill>
                <a:latin typeface="Arial"/>
              </a:defRPr>
            </a:pPr>
            <a:r>
              <a:t>Ritim Quality  /  Daha tutarlı kontroller. Daha izlenebilir üretim.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